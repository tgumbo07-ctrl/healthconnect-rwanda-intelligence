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HealthConnect Rwanda - Healthcare Predictive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6970"/>
                </a:solidFill>
              </a:rPr>
              <a:t>Week 6 | Data Science Track | Takudzwa Jeffrey Gumbo (TJ)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/>
            </a:pPr>
            <a:r>
              <a:t>Population health intelligence, forecasting and predictive analytics</a:t>
            </a:r>
          </a:p>
          <a:p>
            <a:pPr>
              <a:spcAft>
                <a:spcPts val="900"/>
              </a:spcAft>
              <a:defRPr sz="2400"/>
            </a:pPr>
            <a:r>
              <a:t>Synthetic educational healthcare data only</a:t>
            </a:r>
          </a:p>
          <a:p>
            <a:pPr>
              <a:spcAft>
                <a:spcPts val="900"/>
              </a:spcAft>
              <a:defRPr sz="2400"/>
            </a:pPr>
            <a:r>
              <a:t>Responsible-use focus: evidence, limitations, privacy and human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Business problem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Integrate clinical, operational, financial and experience data</a:t>
            </a:r>
          </a:p>
          <a:p>
            <a:pPr>
              <a:spcAft>
                <a:spcPts val="900"/>
              </a:spcAft>
              <a:defRPr sz="2000"/>
            </a:pPr>
            <a:r>
              <a:t>Audit relationships before modelling</a:t>
            </a:r>
          </a:p>
          <a:p>
            <a:pPr>
              <a:spcAft>
                <a:spcPts val="900"/>
              </a:spcAft>
              <a:defRPr sz="2000"/>
            </a:pPr>
            <a:r>
              <a:t>Engineer transparent analytical features</a:t>
            </a:r>
          </a:p>
          <a:p>
            <a:pPr>
              <a:spcAft>
                <a:spcPts val="900"/>
              </a:spcAft>
              <a:defRPr sz="2000"/>
            </a:pPr>
            <a:r>
              <a:t>Run EDA + statistics + forecasting + predictive models + clustering</a:t>
            </a:r>
          </a:p>
          <a:p>
            <a:pPr>
              <a:spcAft>
                <a:spcPts val="900"/>
              </a:spcAft>
              <a:defRPr sz="2000"/>
            </a:pPr>
            <a:r>
              <a:t>Do not invent missing facility mappings or overstate weak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Data landscape &amp; quality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20,000 patients | 60,000 diagnoses | 60,000 bills</a:t>
            </a:r>
          </a:p>
          <a:p>
            <a:pPr>
              <a:spcAft>
                <a:spcPts val="900"/>
              </a:spcAft>
              <a:defRPr sz="1800"/>
            </a:pPr>
            <a:r>
              <a:t>5,000 detailed appointments vs 60,809 enterprise annual appointments</a:t>
            </a:r>
          </a:p>
          <a:p>
            <a:pPr>
              <a:spcAft>
                <a:spcPts val="900"/>
              </a:spcAft>
              <a:defRPr sz="1800"/>
            </a:pPr>
            <a:r>
              <a:t>Health Facilities master missing: facility names/ownership/geography unavailable</a:t>
            </a:r>
          </a:p>
          <a:p>
            <a:pPr>
              <a:spcAft>
                <a:spcPts val="900"/>
              </a:spcAft>
              <a:defRPr sz="1800"/>
            </a:pPr>
            <a:r>
              <a:t>Only 5.1% of appointment DepartmentID-FacilityID pairs match department master</a:t>
            </a:r>
          </a:p>
          <a:p>
            <a:pPr>
              <a:spcAft>
                <a:spcPts val="900"/>
              </a:spcAft>
              <a:defRPr sz="1800"/>
            </a:pPr>
            <a:r>
              <a:t>All 2,000 supplied beds are marked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Population &amp; clinical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01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3138818"/>
          </a:xfrm>
          <a:prstGeom prst="rect">
            <a:avLst/>
          </a:prstGeom>
        </p:spPr>
      </p:pic>
      <p:pic>
        <p:nvPicPr>
          <p:cNvPr id="6" name="Picture 5" descr="fig06_top_diagno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03520" cy="2903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Financial &amp; patient experience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08_bill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3138818"/>
          </a:xfrm>
          <a:prstGeom prst="rect">
            <a:avLst/>
          </a:prstGeom>
        </p:spPr>
      </p:pic>
      <p:pic>
        <p:nvPicPr>
          <p:cNvPr id="6" name="Picture 5" descr="fig12_satisfaction_ra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03520" cy="3363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Statistical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Satisfaction across FacilityIDs: p=0.7952 - no significant difference</a:t>
            </a:r>
          </a:p>
          <a:p>
            <a:pPr>
              <a:spcAft>
                <a:spcPts val="900"/>
              </a:spcAft>
              <a:defRPr sz="2100"/>
            </a:pPr>
            <a:r>
              <a:t>Admission status vs age group: p=0.0308 - significant association</a:t>
            </a:r>
          </a:p>
          <a:p>
            <a:pPr>
              <a:spcAft>
                <a:spcPts val="900"/>
              </a:spcAft>
              <a:defRPr sz="2100"/>
            </a:pPr>
            <a:r>
              <a:t>Billing by recorded chronic-condition status: p=0.5438 - no significant difference</a:t>
            </a:r>
          </a:p>
          <a:p>
            <a:pPr>
              <a:spcAft>
                <a:spcPts val="900"/>
              </a:spcAft>
              <a:defRPr sz="2100"/>
            </a:pPr>
            <a:r>
              <a:t>Associations are synthetic and not clinical causal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12-month patient-demand forecast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16_appointment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241280" cy="5045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2578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Backtest MAE: 1,299 appointments</a:t>
            </a:r>
          </a:p>
          <a:p>
            <a:pPr>
              <a:spcAft>
                <a:spcPts val="900"/>
              </a:spcAft>
              <a:defRPr sz="1400"/>
            </a:pPr>
            <a:r>
              <a:t>Only 12 historical monthly observations - planning illustration, not a staffing commitment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12-month revenue forecast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17_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241280" cy="5045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2578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Backtest MAE: RWF 23,126,582</a:t>
            </a:r>
          </a:p>
          <a:p>
            <a:pPr>
              <a:spcAft>
                <a:spcPts val="900"/>
              </a:spcAft>
              <a:defRPr sz="1400"/>
            </a:pPr>
            <a:r>
              <a:t>Forecast uncertainty must remain explicit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Admission prediction: weak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19_admiss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2944741"/>
          </a:xfrm>
          <a:prstGeom prst="rect">
            <a:avLst/>
          </a:prstGeom>
        </p:spPr>
      </p:pic>
      <p:pic>
        <p:nvPicPr>
          <p:cNvPr id="6" name="Picture 5" descr="fig20_admission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03520" cy="3270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864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Best ROC-AUC: 0.497 (Gradient Boosting)</a:t>
            </a:r>
          </a:p>
          <a:p>
            <a:pPr>
              <a:spcAft>
                <a:spcPts val="900"/>
              </a:spcAft>
              <a:defRPr sz="1400"/>
            </a:pPr>
            <a:r>
              <a:t>Not suitable for clinical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Satisfaction prediction &amp;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pic>
        <p:nvPicPr>
          <p:cNvPr id="5" name="Picture 4" descr="fig21_satisfac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2941009"/>
          </a:xfrm>
          <a:prstGeom prst="rect">
            <a:avLst/>
          </a:prstGeom>
        </p:spPr>
      </p:pic>
      <p:pic>
        <p:nvPicPr>
          <p:cNvPr id="6" name="Picture 5" descr="fig22_patient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03520" cy="3275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864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Best satisfaction R2: -0.022</a:t>
            </a:r>
          </a:p>
          <a:p>
            <a:pPr>
              <a:spcAft>
                <a:spcPts val="900"/>
              </a:spcAft>
              <a:defRPr sz="1400"/>
            </a:pPr>
            <a:r>
              <a:t>Clusters are descriptive service-planning groups, not clinical phenotypes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Collect a complete Health Facilities master with stable FacilityID, name, type, ownership and geographic keys.</a:t>
            </a:r>
          </a:p>
          <a:p>
            <a:pPr>
              <a:spcAft>
                <a:spcPts val="900"/>
              </a:spcAft>
              <a:defRPr sz="1700"/>
            </a:pPr>
            <a:r>
              <a:t>Enforce referential integrity between FacilityID and DepartmentID across appointments and staff systems.</a:t>
            </a:r>
          </a:p>
          <a:p>
            <a:pPr>
              <a:spcAft>
                <a:spcPts val="900"/>
              </a:spcAft>
              <a:defRPr sz="1700"/>
            </a:pPr>
            <a:r>
              <a:t>Capture true bed occupancy events and timestamps rather than static Available status only.</a:t>
            </a:r>
          </a:p>
          <a:p>
            <a:pPr>
              <a:spcAft>
                <a:spcPts val="900"/>
              </a:spcAft>
              <a:defRPr sz="1700"/>
            </a:pPr>
            <a:r>
              <a:t>Preserve complete longitudinal appointment histories with consistent patient, facility, department and clinician keys.</a:t>
            </a:r>
          </a:p>
          <a:p>
            <a:pPr>
              <a:spcAft>
                <a:spcPts val="900"/>
              </a:spcAft>
              <a:defRPr sz="1700"/>
            </a:pPr>
            <a:r>
              <a:t>Capture waiting time, triage acuity and discharge outcome fields for operational and admission modelling.</a:t>
            </a:r>
          </a:p>
          <a:p>
            <a:pPr>
              <a:spcAft>
                <a:spcPts val="900"/>
              </a:spcAft>
              <a:defRPr sz="1700"/>
            </a:pPr>
            <a:r>
              <a:t>Use the current admission and satisfaction models only as educational baselines; do not deploy them clinically.</a:t>
            </a:r>
          </a:p>
          <a:p>
            <a:pPr>
              <a:spcAft>
                <a:spcPts val="900"/>
              </a:spcAft>
              <a:defRPr sz="1700"/>
            </a:pPr>
            <a:r>
              <a:t>Retain forecast uncertainty in capacity planning because only 12 monthly enterprise observations are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B63"/>
                </a:solidFill>
              </a:rPr>
              <a:t>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65105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46970"/>
                </a:solidFill>
              </a:rPr>
              <a:t>AnalystLab Africa Experience Lab | Synthetic healthcare data | Not clinical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The strongest result is the data-quality diagnosis, not a high predictive score</a:t>
            </a:r>
          </a:p>
          <a:p>
            <a:pPr>
              <a:spcAft>
                <a:spcPts val="900"/>
              </a:spcAft>
              <a:defRPr sz="1800"/>
            </a:pPr>
            <a:r>
              <a:t>Age group is associated with admission occurrence in the synthetic sample, but admission prediction remains weak</a:t>
            </a:r>
          </a:p>
          <a:p>
            <a:pPr>
              <a:spcAft>
                <a:spcPts val="900"/>
              </a:spcAft>
              <a:defRPr sz="1800"/>
            </a:pPr>
            <a:r>
              <a:t>Satisfaction is not well explained by the supplied operational/clinical variables</a:t>
            </a:r>
          </a:p>
          <a:p>
            <a:pPr>
              <a:spcAft>
                <a:spcPts val="900"/>
              </a:spcAft>
              <a:defRPr sz="1800"/>
            </a:pPr>
            <a:r>
              <a:t>Forecasts are limited by only 12 monthly observations</a:t>
            </a:r>
          </a:p>
          <a:p>
            <a:pPr>
              <a:spcAft>
                <a:spcPts val="900"/>
              </a:spcAft>
              <a:defRPr sz="1800"/>
            </a:pPr>
            <a:r>
              <a:t>Next priority: complete facility master + consistent keys + longitudinal outcomes + real capacity measures</a:t>
            </a:r>
          </a:p>
          <a:p>
            <a:pPr>
              <a:spcAft>
                <a:spcPts val="900"/>
              </a:spcAft>
              <a:defRPr sz="1800"/>
            </a:pPr>
            <a:r>
              <a:t>Repository: github.com/tgumbo07-ctrl/healthconnect-rwanda-intelligence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